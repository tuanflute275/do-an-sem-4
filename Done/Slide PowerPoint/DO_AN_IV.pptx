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99" r:id="rId3"/>
    <p:sldId id="300" r:id="rId4"/>
    <p:sldId id="308" r:id="rId5"/>
    <p:sldId id="309" r:id="rId6"/>
    <p:sldId id="302" r:id="rId7"/>
    <p:sldId id="303" r:id="rId8"/>
    <p:sldId id="304" r:id="rId9"/>
    <p:sldId id="307" r:id="rId10"/>
    <p:sldId id="260" r:id="rId11"/>
  </p:sldIdLst>
  <p:sldSz cx="12192000" cy="6858000"/>
  <p:notesSz cx="6858000" cy="9144000"/>
  <p:embeddedFontLst>
    <p:embeddedFont>
      <p:font typeface="Tahoma" panose="020B0604030504040204" pitchFamily="34" charset="0"/>
      <p:regular r:id="rId13"/>
      <p:bold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ến Đạt Ngô" initials="TN" lastIdx="1" clrIdx="0">
    <p:extLst>
      <p:ext uri="{19B8F6BF-5375-455C-9EA6-DF929625EA0E}">
        <p15:presenceInfo xmlns:p15="http://schemas.microsoft.com/office/powerpoint/2012/main" userId="aa7a078b725d2a4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p:cViewPr varScale="1">
        <p:scale>
          <a:sx n="87" d="100"/>
          <a:sy n="87" d="100"/>
        </p:scale>
        <p:origin x="389" y="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3729636228"/>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dirty="0"/>
          </a:p>
        </p:txBody>
      </p:sp>
      <p:sp>
        <p:nvSpPr>
          <p:cNvPr id="82" name="Shape 8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0067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Shape 10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08" name="Shape 1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8733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1524000" y="1122362"/>
            <a:ext cx="9144000" cy="2387600"/>
          </a:xfrm>
          <a:prstGeom prst="rect">
            <a:avLst/>
          </a:prstGeom>
          <a:noFill/>
          <a:ln>
            <a:noFill/>
          </a:ln>
        </p:spPr>
        <p:txBody>
          <a:bodyPr lIns="91425" tIns="91425" rIns="91425" bIns="91425" anchor="b" anchorCtr="0"/>
          <a:lstStyle>
            <a:lvl1pPr marL="0" marR="0" lvl="0" indent="0" algn="ctr" rtl="0">
              <a:lnSpc>
                <a:spcPct val="90000"/>
              </a:lnSpc>
              <a:spcBef>
                <a:spcPts val="0"/>
              </a:spcBef>
              <a:buClr>
                <a:schemeClr val="dk1"/>
              </a:buClr>
              <a:buFont typeface="Calibri"/>
              <a:buNone/>
              <a:defRPr sz="6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3" name="Shape 13"/>
          <p:cNvSpPr txBox="1">
            <a:spLocks noGrp="1"/>
          </p:cNvSpPr>
          <p:nvPr>
            <p:ph type="subTitle" idx="1"/>
          </p:nvPr>
        </p:nvSpPr>
        <p:spPr>
          <a:xfrm>
            <a:off x="1524000" y="3602037"/>
            <a:ext cx="9144000" cy="1655761"/>
          </a:xfrm>
          <a:prstGeom prst="rect">
            <a:avLst/>
          </a:prstGeom>
          <a:noFill/>
          <a:ln>
            <a:noFill/>
          </a:ln>
        </p:spPr>
        <p:txBody>
          <a:bodyPr lIns="91425" tIns="91425" rIns="91425" bIns="91425" anchor="t" anchorCtr="0"/>
          <a:lstStyle>
            <a:lvl1pPr marL="0" marR="0" lvl="0" indent="0" algn="ctr" rtl="0">
              <a:lnSpc>
                <a:spcPct val="90000"/>
              </a:lnSpc>
              <a:spcBef>
                <a:spcPts val="1000"/>
              </a:spcBef>
              <a:buClr>
                <a:schemeClr val="dk1"/>
              </a:buClr>
              <a:buFont typeface="Arial"/>
              <a:buNone/>
              <a:defRPr sz="2400" b="0" i="0" u="none" strike="noStrike" cap="none">
                <a:solidFill>
                  <a:schemeClr val="dk1"/>
                </a:solidFill>
                <a:latin typeface="Calibri"/>
                <a:ea typeface="Calibri"/>
                <a:cs typeface="Calibri"/>
                <a:sym typeface="Calibri"/>
              </a:defRPr>
            </a:lvl1pPr>
            <a:lvl2pPr marL="457200" marR="0" lvl="1" indent="0" algn="ctr"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2pPr>
            <a:lvl3pPr marL="914400" marR="0" lvl="2" indent="0" algn="ctr" rtl="0">
              <a:lnSpc>
                <a:spcPct val="90000"/>
              </a:lnSpc>
              <a:spcBef>
                <a:spcPts val="500"/>
              </a:spcBef>
              <a:buClr>
                <a:schemeClr val="dk1"/>
              </a:buClr>
              <a:buFont typeface="Arial"/>
              <a:buNone/>
              <a:defRPr sz="1800" b="0" i="0" u="none" strike="noStrike" cap="none">
                <a:solidFill>
                  <a:schemeClr val="dk1"/>
                </a:solidFill>
                <a:latin typeface="Calibri"/>
                <a:ea typeface="Calibri"/>
                <a:cs typeface="Calibri"/>
                <a:sym typeface="Calibri"/>
              </a:defRPr>
            </a:lvl3pPr>
            <a:lvl4pPr marL="1371600" marR="0" lvl="3"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4pPr>
            <a:lvl5pPr marL="1828800" marR="0" lvl="4"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5pPr>
            <a:lvl6pPr marL="2286000" marR="0" lvl="5"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4" name="Shape 14"/>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5" name="Shape 15"/>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6" name="Shape 16"/>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9" name="Shape 19"/>
          <p:cNvSpPr txBox="1">
            <a:spLocks noGrp="1"/>
          </p:cNvSpPr>
          <p:nvPr>
            <p:ph type="body" idx="1"/>
          </p:nvPr>
        </p:nvSpPr>
        <p:spPr>
          <a:xfrm>
            <a:off x="838200" y="1825625"/>
            <a:ext cx="10515599"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 name="Shape 20"/>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1" name="Shape 21"/>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2" name="Shape 22"/>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3"/>
        <p:cNvGrpSpPr/>
        <p:nvPr/>
      </p:nvGrpSpPr>
      <p:grpSpPr>
        <a:xfrm>
          <a:off x="0" y="0"/>
          <a:ext cx="0" cy="0"/>
          <a:chOff x="0" y="0"/>
          <a:chExt cx="0" cy="0"/>
        </a:xfrm>
      </p:grpSpPr>
      <p:sp>
        <p:nvSpPr>
          <p:cNvPr id="24" name="Shape 24"/>
          <p:cNvSpPr txBox="1">
            <a:spLocks noGrp="1"/>
          </p:cNvSpPr>
          <p:nvPr>
            <p:ph type="title"/>
          </p:nvPr>
        </p:nvSpPr>
        <p:spPr>
          <a:xfrm>
            <a:off x="831850" y="1709738"/>
            <a:ext cx="10515599" cy="2852737"/>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6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5" name="Shape 25"/>
          <p:cNvSpPr txBox="1">
            <a:spLocks noGrp="1"/>
          </p:cNvSpPr>
          <p:nvPr>
            <p:ph type="body" idx="1"/>
          </p:nvPr>
        </p:nvSpPr>
        <p:spPr>
          <a:xfrm>
            <a:off x="831850" y="4589462"/>
            <a:ext cx="10515599" cy="1500187"/>
          </a:xfrm>
          <a:prstGeom prst="rect">
            <a:avLst/>
          </a:prstGeom>
          <a:noFill/>
          <a:ln>
            <a:noFill/>
          </a:ln>
        </p:spPr>
        <p:txBody>
          <a:bodyPr lIns="91425" tIns="91425" rIns="91425" bIns="91425" anchor="t" anchorCtr="0"/>
          <a:lstStyle>
            <a:lvl1pPr marL="0" marR="0" lvl="0" indent="0" algn="l" rtl="0">
              <a:lnSpc>
                <a:spcPct val="90000"/>
              </a:lnSpc>
              <a:spcBef>
                <a:spcPts val="1000"/>
              </a:spcBef>
              <a:buClr>
                <a:srgbClr val="888888"/>
              </a:buClr>
              <a:buFont typeface="Arial"/>
              <a:buNone/>
              <a:defRPr sz="2400" b="0" i="0" u="none" strike="noStrike" cap="none">
                <a:solidFill>
                  <a:srgbClr val="888888"/>
                </a:solidFill>
                <a:latin typeface="Calibri"/>
                <a:ea typeface="Calibri"/>
                <a:cs typeface="Calibri"/>
                <a:sym typeface="Calibri"/>
              </a:defRPr>
            </a:lvl1pPr>
            <a:lvl2pPr marL="457200" marR="0" lvl="1" indent="0" algn="l" rtl="0">
              <a:lnSpc>
                <a:spcPct val="90000"/>
              </a:lnSpc>
              <a:spcBef>
                <a:spcPts val="500"/>
              </a:spcBef>
              <a:buClr>
                <a:srgbClr val="888888"/>
              </a:buClr>
              <a:buFont typeface="Arial"/>
              <a:buNone/>
              <a:defRPr sz="2000" b="0" i="0" u="none" strike="noStrike" cap="none">
                <a:solidFill>
                  <a:srgbClr val="888888"/>
                </a:solidFill>
                <a:latin typeface="Calibri"/>
                <a:ea typeface="Calibri"/>
                <a:cs typeface="Calibri"/>
                <a:sym typeface="Calibri"/>
              </a:defRPr>
            </a:lvl2pPr>
            <a:lvl3pPr marL="914400" marR="0" lvl="2" indent="0" algn="l" rtl="0">
              <a:lnSpc>
                <a:spcPct val="90000"/>
              </a:lnSpc>
              <a:spcBef>
                <a:spcPts val="500"/>
              </a:spcBef>
              <a:buClr>
                <a:srgbClr val="888888"/>
              </a:buClr>
              <a:buFont typeface="Arial"/>
              <a:buNone/>
              <a:defRPr sz="1800" b="0" i="0" u="none" strike="noStrike" cap="none">
                <a:solidFill>
                  <a:srgbClr val="888888"/>
                </a:solidFill>
                <a:latin typeface="Calibri"/>
                <a:ea typeface="Calibri"/>
                <a:cs typeface="Calibri"/>
                <a:sym typeface="Calibri"/>
              </a:defRPr>
            </a:lvl3pPr>
            <a:lvl4pPr marL="1371600" marR="0" lvl="3"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4pPr>
            <a:lvl5pPr marL="1828800" marR="0" lvl="4"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5pPr>
            <a:lvl6pPr marL="2286000" marR="0" lvl="5"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6pPr>
            <a:lvl7pPr marL="2743200" marR="0" lvl="6"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7pPr>
            <a:lvl8pPr marL="3200400" marR="0" lvl="7"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8pPr>
            <a:lvl9pPr marL="3657600" marR="0" lvl="8"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6" name="Shape 26"/>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7" name="Shape 27"/>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8" name="Shape 28"/>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29"/>
        <p:cNvGrpSpPr/>
        <p:nvPr/>
      </p:nvGrpSpPr>
      <p:grpSpPr>
        <a:xfrm>
          <a:off x="0" y="0"/>
          <a:ext cx="0" cy="0"/>
          <a:chOff x="0" y="0"/>
          <a:chExt cx="0" cy="0"/>
        </a:xfrm>
      </p:grpSpPr>
      <p:sp>
        <p:nvSpPr>
          <p:cNvPr id="30" name="Shape 30"/>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1" name="Shape 31"/>
          <p:cNvSpPr txBox="1">
            <a:spLocks noGrp="1"/>
          </p:cNvSpPr>
          <p:nvPr>
            <p:ph type="body" idx="1"/>
          </p:nvPr>
        </p:nvSpPr>
        <p:spPr>
          <a:xfrm>
            <a:off x="838200" y="1825625"/>
            <a:ext cx="5181600"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Shape 32"/>
          <p:cNvSpPr txBox="1">
            <a:spLocks noGrp="1"/>
          </p:cNvSpPr>
          <p:nvPr>
            <p:ph type="body" idx="2"/>
          </p:nvPr>
        </p:nvSpPr>
        <p:spPr>
          <a:xfrm>
            <a:off x="6172200" y="1825625"/>
            <a:ext cx="5181600"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Shape 33"/>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4" name="Shape 34"/>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5" name="Shape 35"/>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839787"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8" name="Shape 38"/>
          <p:cNvSpPr txBox="1">
            <a:spLocks noGrp="1"/>
          </p:cNvSpPr>
          <p:nvPr>
            <p:ph type="body" idx="1"/>
          </p:nvPr>
        </p:nvSpPr>
        <p:spPr>
          <a:xfrm>
            <a:off x="839787" y="1681163"/>
            <a:ext cx="5157787" cy="823912"/>
          </a:xfrm>
          <a:prstGeom prst="rect">
            <a:avLst/>
          </a:prstGeom>
          <a:noFill/>
          <a:ln>
            <a:noFill/>
          </a:ln>
        </p:spPr>
        <p:txBody>
          <a:bodyPr lIns="91425" tIns="91425" rIns="91425" bIns="91425" anchor="b" anchorCtr="0"/>
          <a:lstStyle>
            <a:lvl1pPr marL="0" marR="0" lvl="0" indent="0" algn="l" rtl="0">
              <a:lnSpc>
                <a:spcPct val="90000"/>
              </a:lnSpc>
              <a:spcBef>
                <a:spcPts val="1000"/>
              </a:spcBef>
              <a:buClr>
                <a:schemeClr val="dk1"/>
              </a:buClr>
              <a:buFont typeface="Arial"/>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9" name="Shape 39"/>
          <p:cNvSpPr txBox="1">
            <a:spLocks noGrp="1"/>
          </p:cNvSpPr>
          <p:nvPr>
            <p:ph type="body" idx="2"/>
          </p:nvPr>
        </p:nvSpPr>
        <p:spPr>
          <a:xfrm>
            <a:off x="839787" y="2505075"/>
            <a:ext cx="5157787" cy="368458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Shape 40"/>
          <p:cNvSpPr txBox="1">
            <a:spLocks noGrp="1"/>
          </p:cNvSpPr>
          <p:nvPr>
            <p:ph type="body" idx="3"/>
          </p:nvPr>
        </p:nvSpPr>
        <p:spPr>
          <a:xfrm>
            <a:off x="6172200" y="1681163"/>
            <a:ext cx="5183187" cy="823912"/>
          </a:xfrm>
          <a:prstGeom prst="rect">
            <a:avLst/>
          </a:prstGeom>
          <a:noFill/>
          <a:ln>
            <a:noFill/>
          </a:ln>
        </p:spPr>
        <p:txBody>
          <a:bodyPr lIns="91425" tIns="91425" rIns="91425" bIns="91425" anchor="b" anchorCtr="0"/>
          <a:lstStyle>
            <a:lvl1pPr marL="0" marR="0" lvl="0" indent="0" algn="l" rtl="0">
              <a:lnSpc>
                <a:spcPct val="90000"/>
              </a:lnSpc>
              <a:spcBef>
                <a:spcPts val="1000"/>
              </a:spcBef>
              <a:buClr>
                <a:schemeClr val="dk1"/>
              </a:buClr>
              <a:buFont typeface="Arial"/>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1" name="Shape 41"/>
          <p:cNvSpPr txBox="1">
            <a:spLocks noGrp="1"/>
          </p:cNvSpPr>
          <p:nvPr>
            <p:ph type="body" idx="4"/>
          </p:nvPr>
        </p:nvSpPr>
        <p:spPr>
          <a:xfrm>
            <a:off x="6172200" y="2505075"/>
            <a:ext cx="5183187" cy="368458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Shape 42"/>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5"/>
        <p:cNvGrpSpPr/>
        <p:nvPr/>
      </p:nvGrpSpPr>
      <p:grpSpPr>
        <a:xfrm>
          <a:off x="0" y="0"/>
          <a:ext cx="0" cy="0"/>
          <a:chOff x="0" y="0"/>
          <a:chExt cx="0" cy="0"/>
        </a:xfrm>
      </p:grpSpPr>
      <p:sp>
        <p:nvSpPr>
          <p:cNvPr id="46" name="Shape 46"/>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7" name="Shape 47"/>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8" name="Shape 48"/>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9" name="Shape 49"/>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0"/>
        <p:cNvGrpSpPr/>
        <p:nvPr/>
      </p:nvGrpSpPr>
      <p:grpSpPr>
        <a:xfrm>
          <a:off x="0" y="0"/>
          <a:ext cx="0" cy="0"/>
          <a:chOff x="0" y="0"/>
          <a:chExt cx="0" cy="0"/>
        </a:xfrm>
      </p:grpSpPr>
      <p:sp>
        <p:nvSpPr>
          <p:cNvPr id="51" name="Shape 51"/>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2" name="Shape 52"/>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3" name="Shape 53"/>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4"/>
        <p:cNvGrpSpPr/>
        <p:nvPr/>
      </p:nvGrpSpPr>
      <p:grpSpPr>
        <a:xfrm>
          <a:off x="0" y="0"/>
          <a:ext cx="0" cy="0"/>
          <a:chOff x="0" y="0"/>
          <a:chExt cx="0" cy="0"/>
        </a:xfrm>
      </p:grpSpPr>
      <p:sp>
        <p:nvSpPr>
          <p:cNvPr id="55" name="Shape 55"/>
          <p:cNvSpPr txBox="1">
            <a:spLocks noGrp="1"/>
          </p:cNvSpPr>
          <p:nvPr>
            <p:ph type="title"/>
          </p:nvPr>
        </p:nvSpPr>
        <p:spPr>
          <a:xfrm>
            <a:off x="839787" y="457200"/>
            <a:ext cx="3932237" cy="160019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32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6" name="Shape 56"/>
          <p:cNvSpPr txBox="1">
            <a:spLocks noGrp="1"/>
          </p:cNvSpPr>
          <p:nvPr>
            <p:ph type="body" idx="1"/>
          </p:nvPr>
        </p:nvSpPr>
        <p:spPr>
          <a:xfrm>
            <a:off x="5183187" y="987425"/>
            <a:ext cx="6172199" cy="4873624"/>
          </a:xfrm>
          <a:prstGeom prst="rect">
            <a:avLst/>
          </a:prstGeom>
          <a:noFill/>
          <a:ln>
            <a:noFill/>
          </a:ln>
        </p:spPr>
        <p:txBody>
          <a:bodyPr lIns="91425" tIns="91425" rIns="91425" bIns="91425" anchor="t" anchorCtr="0"/>
          <a:lstStyle>
            <a:lvl1pPr marL="228600" marR="0" lvl="0" indent="-25400" algn="l" rtl="0">
              <a:lnSpc>
                <a:spcPct val="90000"/>
              </a:lnSpc>
              <a:spcBef>
                <a:spcPts val="1000"/>
              </a:spcBef>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685800" marR="0" lvl="1" indent="-50800" algn="l" rtl="0">
              <a:lnSpc>
                <a:spcPct val="90000"/>
              </a:lnSpc>
              <a:spcBef>
                <a:spcPts val="5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Shape 57"/>
          <p:cNvSpPr txBox="1">
            <a:spLocks noGrp="1"/>
          </p:cNvSpPr>
          <p:nvPr>
            <p:ph type="body" idx="2"/>
          </p:nvPr>
        </p:nvSpPr>
        <p:spPr>
          <a:xfrm>
            <a:off x="839787" y="2057400"/>
            <a:ext cx="3932237" cy="3811588"/>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8" name="Shape 58"/>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9" name="Shape 59"/>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60" name="Shape 60"/>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839787" y="457200"/>
            <a:ext cx="3932237" cy="160019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32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a:spLocks noGrp="1"/>
          </p:cNvSpPr>
          <p:nvPr>
            <p:ph type="pic" idx="2"/>
          </p:nvPr>
        </p:nvSpPr>
        <p:spPr>
          <a:xfrm>
            <a:off x="5183187" y="987425"/>
            <a:ext cx="6172199" cy="4873624"/>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Shape 64"/>
          <p:cNvSpPr txBox="1">
            <a:spLocks noGrp="1"/>
          </p:cNvSpPr>
          <p:nvPr>
            <p:ph type="body" idx="1"/>
          </p:nvPr>
        </p:nvSpPr>
        <p:spPr>
          <a:xfrm>
            <a:off x="839787" y="2057400"/>
            <a:ext cx="3932237" cy="3811588"/>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5" name="Shape 65"/>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66" name="Shape 66"/>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67" name="Shape 67"/>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rot="5400000">
            <a:off x="3920331" y="-1256505"/>
            <a:ext cx="4351338" cy="10515599"/>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 name="Shape 71"/>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2" name="Shape 72"/>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3" name="Shape 73"/>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4"/>
        <p:cNvGrpSpPr/>
        <p:nvPr/>
      </p:nvGrpSpPr>
      <p:grpSpPr>
        <a:xfrm>
          <a:off x="0" y="0"/>
          <a:ext cx="0" cy="0"/>
          <a:chOff x="0" y="0"/>
          <a:chExt cx="0" cy="0"/>
        </a:xfrm>
      </p:grpSpPr>
      <p:sp>
        <p:nvSpPr>
          <p:cNvPr id="75" name="Shape 75"/>
          <p:cNvSpPr txBox="1">
            <a:spLocks noGrp="1"/>
          </p:cNvSpPr>
          <p:nvPr>
            <p:ph type="title"/>
          </p:nvPr>
        </p:nvSpPr>
        <p:spPr>
          <a:xfrm rot="5400000">
            <a:off x="7133431" y="1956594"/>
            <a:ext cx="5811838" cy="2628899"/>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body" idx="1"/>
          </p:nvPr>
        </p:nvSpPr>
        <p:spPr>
          <a:xfrm rot="5400000">
            <a:off x="1799431" y="-596105"/>
            <a:ext cx="5811838" cy="7734299"/>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7" name="Shape 77"/>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8" name="Shape 78"/>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9" name="Shape 79"/>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stretch>
            <a:fillRect l="-999" r="-999"/>
          </a:stretch>
        </a:blip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 name="Shape 7"/>
          <p:cNvSpPr txBox="1">
            <a:spLocks noGrp="1"/>
          </p:cNvSpPr>
          <p:nvPr>
            <p:ph type="body" idx="1"/>
          </p:nvPr>
        </p:nvSpPr>
        <p:spPr>
          <a:xfrm>
            <a:off x="838200" y="1825625"/>
            <a:ext cx="10515599"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9" name="Shape 9"/>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0" name="Shape 10"/>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Shape 84"/>
          <p:cNvPicPr preferRelativeResize="0"/>
          <p:nvPr/>
        </p:nvPicPr>
        <p:blipFill rotWithShape="1">
          <a:blip r:embed="rId3">
            <a:alphaModFix/>
          </a:blip>
          <a:srcRect/>
          <a:stretch/>
        </p:blipFill>
        <p:spPr>
          <a:xfrm>
            <a:off x="0" y="0"/>
            <a:ext cx="12368462" cy="6871366"/>
          </a:xfrm>
          <a:prstGeom prst="rect">
            <a:avLst/>
          </a:prstGeom>
          <a:noFill/>
          <a:ln>
            <a:noFill/>
          </a:ln>
        </p:spPr>
      </p:pic>
      <p:sp>
        <p:nvSpPr>
          <p:cNvPr id="85" name="Shape 85"/>
          <p:cNvSpPr/>
          <p:nvPr/>
        </p:nvSpPr>
        <p:spPr>
          <a:xfrm>
            <a:off x="431293" y="1746493"/>
            <a:ext cx="11238271" cy="609599"/>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3200" b="1" dirty="0">
                <a:solidFill>
                  <a:schemeClr val="lt1"/>
                </a:solidFill>
              </a:rPr>
              <a:t>BẢO VỆ ĐỒ ÁN SEM IV</a:t>
            </a:r>
            <a:endParaRPr lang="en-US" sz="3200" b="1" i="0" u="none" strike="noStrike" cap="none" dirty="0">
              <a:solidFill>
                <a:schemeClr val="lt1"/>
              </a:solidFill>
              <a:sym typeface="Arial"/>
            </a:endParaRPr>
          </a:p>
        </p:txBody>
      </p:sp>
      <p:sp>
        <p:nvSpPr>
          <p:cNvPr id="4" name="Shape 85"/>
          <p:cNvSpPr/>
          <p:nvPr/>
        </p:nvSpPr>
        <p:spPr>
          <a:xfrm>
            <a:off x="431294" y="2356092"/>
            <a:ext cx="11238271" cy="1116458"/>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3200" b="1" i="0" u="none" strike="noStrike" cap="none" dirty="0">
                <a:solidFill>
                  <a:schemeClr val="bg1"/>
                </a:solidFill>
                <a:latin typeface="+mj-lt"/>
                <a:cs typeface="Times New Roman" panose="02020603050405020304" pitchFamily="18" charset="0"/>
                <a:sym typeface="Arial"/>
              </a:rPr>
              <a:t>COMIC APP</a:t>
            </a:r>
          </a:p>
        </p:txBody>
      </p:sp>
      <p:sp>
        <p:nvSpPr>
          <p:cNvPr id="5" name="Shape 85"/>
          <p:cNvSpPr/>
          <p:nvPr/>
        </p:nvSpPr>
        <p:spPr>
          <a:xfrm>
            <a:off x="2209800" y="2994342"/>
            <a:ext cx="9296400" cy="3435683"/>
          </a:xfrm>
          <a:prstGeom prst="rect">
            <a:avLst/>
          </a:prstGeom>
          <a:noFill/>
          <a:ln>
            <a:noFill/>
          </a:ln>
        </p:spPr>
        <p:txBody>
          <a:bodyPr lIns="91425" tIns="45700" rIns="91425" bIns="45700" anchor="t" anchorCtr="0">
            <a:noAutofit/>
          </a:bodyPr>
          <a:lstStyle/>
          <a:p>
            <a:pPr lvl="0">
              <a:lnSpc>
                <a:spcPct val="150000"/>
              </a:lnSpc>
              <a:buSzPct val="25000"/>
            </a:pPr>
            <a:r>
              <a:rPr lang="en-US" sz="2000" b="1" dirty="0" err="1">
                <a:solidFill>
                  <a:schemeClr val="lt1"/>
                </a:solidFill>
              </a:rPr>
              <a:t>Lớp</a:t>
            </a:r>
            <a:r>
              <a:rPr lang="en-US" sz="2000" b="1" dirty="0">
                <a:solidFill>
                  <a:schemeClr val="lt1"/>
                </a:solidFill>
              </a:rPr>
              <a:t> C2208G</a:t>
            </a:r>
          </a:p>
          <a:p>
            <a:pPr marL="0" marR="0" lvl="0" indent="0" rtl="0">
              <a:lnSpc>
                <a:spcPct val="150000"/>
              </a:lnSpc>
              <a:spcBef>
                <a:spcPts val="0"/>
              </a:spcBef>
              <a:buSzPct val="25000"/>
              <a:buNone/>
            </a:pPr>
            <a:r>
              <a:rPr lang="en-US" sz="2000" b="1" dirty="0" err="1">
                <a:solidFill>
                  <a:schemeClr val="lt1"/>
                </a:solidFill>
              </a:rPr>
              <a:t>Nhóm</a:t>
            </a:r>
            <a:r>
              <a:rPr lang="en-US" sz="2000" b="1" dirty="0">
                <a:solidFill>
                  <a:schemeClr val="lt1"/>
                </a:solidFill>
              </a:rPr>
              <a:t>: </a:t>
            </a:r>
          </a:p>
          <a:p>
            <a:pPr lvl="0">
              <a:lnSpc>
                <a:spcPct val="150000"/>
              </a:lnSpc>
              <a:buSzPct val="25000"/>
            </a:pPr>
            <a:r>
              <a:rPr lang="en-US" sz="2000" b="1" dirty="0">
                <a:solidFill>
                  <a:schemeClr val="lt1"/>
                </a:solidFill>
              </a:rPr>
              <a:t>	1. Nguyễn Văn Tuấn(Team Leader)</a:t>
            </a:r>
          </a:p>
          <a:p>
            <a:pPr lvl="0">
              <a:lnSpc>
                <a:spcPct val="150000"/>
              </a:lnSpc>
              <a:buSzPct val="25000"/>
            </a:pPr>
            <a:r>
              <a:rPr lang="en-US" sz="2000" b="1" dirty="0">
                <a:solidFill>
                  <a:schemeClr val="lt1"/>
                </a:solidFill>
              </a:rPr>
              <a:t>	2. Nguyễn Cao </a:t>
            </a:r>
            <a:r>
              <a:rPr lang="en-US" sz="2000" b="1" dirty="0" err="1">
                <a:solidFill>
                  <a:schemeClr val="lt1"/>
                </a:solidFill>
              </a:rPr>
              <a:t>Toàn</a:t>
            </a:r>
            <a:endParaRPr lang="en-US" sz="2000" b="1" dirty="0">
              <a:solidFill>
                <a:schemeClr val="lt1"/>
              </a:solidFill>
            </a:endParaRPr>
          </a:p>
          <a:p>
            <a:pPr lvl="0">
              <a:lnSpc>
                <a:spcPct val="150000"/>
              </a:lnSpc>
              <a:buSzPct val="25000"/>
            </a:pPr>
            <a:r>
              <a:rPr lang="en-US" sz="2000" b="1" dirty="0">
                <a:solidFill>
                  <a:schemeClr val="lt1"/>
                </a:solidFill>
              </a:rPr>
              <a:t>	3. Lê Thị Thu Hà</a:t>
            </a:r>
          </a:p>
          <a:p>
            <a:pPr lvl="0">
              <a:lnSpc>
                <a:spcPct val="150000"/>
              </a:lnSpc>
              <a:buSzPct val="25000"/>
            </a:pPr>
            <a:r>
              <a:rPr lang="en-US" sz="2000" b="1" dirty="0">
                <a:solidFill>
                  <a:schemeClr val="lt1"/>
                </a:solidFill>
              </a:rPr>
              <a:t>GVHD: </a:t>
            </a:r>
            <a:r>
              <a:rPr lang="en-US" sz="2000" b="1" dirty="0" err="1">
                <a:solidFill>
                  <a:schemeClr val="lt1"/>
                </a:solidFill>
              </a:rPr>
              <a:t>Thầy</a:t>
            </a:r>
            <a:r>
              <a:rPr lang="en-US" sz="2000" b="1" dirty="0">
                <a:solidFill>
                  <a:schemeClr val="lt1"/>
                </a:solidFill>
              </a:rPr>
              <a:t> </a:t>
            </a:r>
            <a:r>
              <a:rPr lang="en-US" sz="2000" b="1" dirty="0" err="1">
                <a:solidFill>
                  <a:schemeClr val="lt1"/>
                </a:solidFill>
              </a:rPr>
              <a:t>Lại</a:t>
            </a:r>
            <a:r>
              <a:rPr lang="en-US" sz="2000" b="1" dirty="0">
                <a:solidFill>
                  <a:schemeClr val="lt1"/>
                </a:solidFill>
              </a:rPr>
              <a:t> Đức Chung</a:t>
            </a:r>
          </a:p>
          <a:p>
            <a:pPr lvl="0">
              <a:lnSpc>
                <a:spcPct val="150000"/>
              </a:lnSpc>
              <a:buSzPct val="25000"/>
            </a:pPr>
            <a:endParaRPr lang="en-US" sz="2000" b="1" dirty="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0"/>
            <a:ext cx="10515599" cy="1020762"/>
          </a:xfrm>
        </p:spPr>
        <p:txBody>
          <a:bodyPr/>
          <a:lstStyle/>
          <a:p>
            <a:pPr lvl="0"/>
            <a:r>
              <a:rPr lang="en-US" sz="3000" b="1" dirty="0">
                <a:solidFill>
                  <a:srgbClr val="832C8B"/>
                </a:solidFill>
              </a:rPr>
              <a:t>NỘI DUNG TRÌNH BÀY</a:t>
            </a:r>
            <a:endParaRPr lang="en-US" sz="3000" dirty="0"/>
          </a:p>
        </p:txBody>
      </p:sp>
      <p:sp>
        <p:nvSpPr>
          <p:cNvPr id="3" name="Text Placeholder 2"/>
          <p:cNvSpPr>
            <a:spLocks noGrp="1"/>
          </p:cNvSpPr>
          <p:nvPr>
            <p:ph type="body" idx="1"/>
          </p:nvPr>
        </p:nvSpPr>
        <p:spPr>
          <a:xfrm>
            <a:off x="76200" y="838200"/>
            <a:ext cx="11887200" cy="5486400"/>
          </a:xfrm>
        </p:spPr>
        <p:txBody>
          <a:bodyPr/>
          <a:lstStyle/>
          <a:p>
            <a:pPr marL="812800" indent="-457200">
              <a:lnSpc>
                <a:spcPct val="150000"/>
              </a:lnSpc>
              <a:buFont typeface="Wingdings" pitchFamily="2" charset="2"/>
              <a:buChar char="§"/>
            </a:pPr>
            <a:r>
              <a:rPr lang="en-US" sz="2100" dirty="0" err="1">
                <a:latin typeface="Times New Roman" panose="02020603050405020304" pitchFamily="18" charset="0"/>
                <a:cs typeface="Times New Roman" panose="02020603050405020304" pitchFamily="18" charset="0"/>
              </a:rPr>
              <a:t>Tổng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quan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về</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đề</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tài</a:t>
            </a:r>
            <a:endParaRPr lang="en-US" sz="2100" dirty="0">
              <a:latin typeface="Times New Roman" panose="02020603050405020304" pitchFamily="18" charset="0"/>
              <a:cs typeface="Times New Roman" panose="02020603050405020304" pitchFamily="18" charset="0"/>
            </a:endParaRPr>
          </a:p>
          <a:p>
            <a:pPr marL="812800" indent="-457200">
              <a:lnSpc>
                <a:spcPct val="150000"/>
              </a:lnSpc>
              <a:buFont typeface="Wingdings" pitchFamily="2" charset="2"/>
              <a:buChar char="§"/>
            </a:pPr>
            <a:r>
              <a:rPr lang="en-US" sz="2100" dirty="0" err="1">
                <a:latin typeface="Times New Roman" panose="02020603050405020304" pitchFamily="18" charset="0"/>
                <a:cs typeface="Times New Roman" panose="02020603050405020304" pitchFamily="18" charset="0"/>
              </a:rPr>
              <a:t>Các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công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nghệ</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sử</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dụng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trong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đề</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tài</a:t>
            </a:r>
            <a:endParaRPr lang="vi-VN" sz="2100" dirty="0">
              <a:latin typeface="Times New Roman" panose="02020603050405020304" pitchFamily="18" charset="0"/>
              <a:cs typeface="Times New Roman" panose="02020603050405020304" pitchFamily="18" charset="0"/>
            </a:endParaRPr>
          </a:p>
          <a:p>
            <a:pPr marL="812800" indent="-457200">
              <a:lnSpc>
                <a:spcPct val="150000"/>
              </a:lnSpc>
              <a:buFont typeface="Wingdings" pitchFamily="2" charset="2"/>
              <a:buChar char="§"/>
            </a:pPr>
            <a:r>
              <a:rPr lang="en-US" sz="2100" dirty="0" err="1">
                <a:latin typeface="Times New Roman" panose="02020603050405020304" pitchFamily="18" charset="0"/>
                <a:cs typeface="Times New Roman" panose="02020603050405020304" pitchFamily="18" charset="0"/>
              </a:rPr>
              <a:t>Biểu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đồ</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luồng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dữ</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liệu</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mức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ngữ</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cảnh</a:t>
            </a:r>
            <a:endParaRPr lang="en-US" sz="2100" dirty="0">
              <a:latin typeface="Times New Roman" panose="02020603050405020304" pitchFamily="18" charset="0"/>
              <a:cs typeface="Times New Roman" panose="02020603050405020304" pitchFamily="18" charset="0"/>
            </a:endParaRPr>
          </a:p>
          <a:p>
            <a:pPr marL="812800" indent="-457200">
              <a:lnSpc>
                <a:spcPct val="150000"/>
              </a:lnSpc>
              <a:buFont typeface="Wingdings" pitchFamily="2" charset="2"/>
              <a:buChar char="§"/>
            </a:pPr>
            <a:r>
              <a:rPr lang="en-US" sz="2100" dirty="0" err="1">
                <a:latin typeface="Times New Roman" panose="02020603050405020304" pitchFamily="18" charset="0"/>
                <a:cs typeface="Times New Roman" panose="02020603050405020304" pitchFamily="18" charset="0"/>
              </a:rPr>
              <a:t>Sơ</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đồ</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quan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hệ</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thực</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thể</a:t>
            </a:r>
            <a:endParaRPr lang="vi-VN" sz="2100" dirty="0">
              <a:latin typeface="Times New Roman" panose="02020603050405020304" pitchFamily="18" charset="0"/>
              <a:cs typeface="Times New Roman" panose="02020603050405020304" pitchFamily="18" charset="0"/>
            </a:endParaRPr>
          </a:p>
          <a:p>
            <a:pPr marL="812800" indent="-457200">
              <a:lnSpc>
                <a:spcPct val="150000"/>
              </a:lnSpc>
              <a:buFont typeface="Wingdings" pitchFamily="2" charset="2"/>
              <a:buChar char="§"/>
            </a:pPr>
            <a:r>
              <a:rPr lang="vi-VN" sz="2100" dirty="0">
                <a:latin typeface="Times New Roman" panose="02020603050405020304" pitchFamily="18" charset="0"/>
                <a:cs typeface="Times New Roman" panose="02020603050405020304" pitchFamily="18" charset="0"/>
              </a:rPr>
              <a:t>Thiết kế cơ sở dữ liệu</a:t>
            </a:r>
          </a:p>
          <a:p>
            <a:pPr marL="812800" indent="-457200">
              <a:lnSpc>
                <a:spcPct val="150000"/>
              </a:lnSpc>
              <a:buFont typeface="Wingdings" pitchFamily="2" charset="2"/>
              <a:buChar char="§"/>
            </a:pPr>
            <a:r>
              <a:rPr lang="en-US" sz="2100" dirty="0" err="1">
                <a:latin typeface="Times New Roman" panose="02020603050405020304" pitchFamily="18" charset="0"/>
                <a:cs typeface="Times New Roman" panose="02020603050405020304" pitchFamily="18" charset="0"/>
              </a:rPr>
              <a:t>Hạn</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chế</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của</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đề</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tài</a:t>
            </a:r>
            <a:endParaRPr lang="en-US" sz="2100" dirty="0">
              <a:latin typeface="Times New Roman" panose="02020603050405020304" pitchFamily="18" charset="0"/>
              <a:cs typeface="Times New Roman" panose="02020603050405020304" pitchFamily="18" charset="0"/>
            </a:endParaRPr>
          </a:p>
          <a:p>
            <a:pPr marL="812800" indent="-457200">
              <a:lnSpc>
                <a:spcPct val="150000"/>
              </a:lnSpc>
              <a:buFont typeface="Wingdings" pitchFamily="2" charset="2"/>
              <a:buChar char="§"/>
            </a:pPr>
            <a:r>
              <a:rPr lang="en-US" sz="2100" dirty="0">
                <a:latin typeface="Times New Roman" panose="02020603050405020304" pitchFamily="18" charset="0"/>
                <a:cs typeface="Times New Roman" panose="02020603050405020304" pitchFamily="18" charset="0"/>
              </a:rPr>
              <a:t>Demo </a:t>
            </a:r>
            <a:r>
              <a:rPr lang="en-US" sz="2100" dirty="0" err="1">
                <a:latin typeface="Times New Roman" panose="02020603050405020304" pitchFamily="18" charset="0"/>
                <a:cs typeface="Times New Roman" panose="02020603050405020304" pitchFamily="18" charset="0"/>
              </a:rPr>
              <a:t>ứng</a:t>
            </a:r>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dụng</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7773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0"/>
            <a:ext cx="10515599" cy="1020762"/>
          </a:xfrm>
        </p:spPr>
        <p:txBody>
          <a:bodyPr/>
          <a:lstStyle/>
          <a:p>
            <a:pPr lvl="0"/>
            <a:r>
              <a:rPr lang="en-US" sz="3000" b="1" dirty="0">
                <a:solidFill>
                  <a:srgbClr val="832C8B"/>
                </a:solidFill>
              </a:rPr>
              <a:t>TỔNG QUAN ĐỀ TÀI</a:t>
            </a:r>
            <a:endParaRPr lang="en-US" sz="3000" dirty="0"/>
          </a:p>
        </p:txBody>
      </p:sp>
      <p:sp>
        <p:nvSpPr>
          <p:cNvPr id="3" name="Text Placeholder 2"/>
          <p:cNvSpPr>
            <a:spLocks noGrp="1"/>
          </p:cNvSpPr>
          <p:nvPr>
            <p:ph type="body" idx="1"/>
          </p:nvPr>
        </p:nvSpPr>
        <p:spPr>
          <a:xfrm>
            <a:off x="76200" y="838200"/>
            <a:ext cx="12077700" cy="5029200"/>
          </a:xfrm>
        </p:spPr>
        <p:txBody>
          <a:bodyPr/>
          <a:lstStyle/>
          <a:p>
            <a:pPr marL="177800" indent="0">
              <a:lnSpc>
                <a:spcPct val="150000"/>
              </a:lnSpc>
              <a:buNone/>
            </a:pPr>
            <a:r>
              <a:rPr lang="vi-VN" sz="1600" dirty="0"/>
              <a:t>Ứng dụng đọc truyện tranh (</a:t>
            </a:r>
            <a:r>
              <a:rPr lang="vi-VN" sz="1600" dirty="0" err="1"/>
              <a:t>Comic</a:t>
            </a:r>
            <a:r>
              <a:rPr lang="vi-VN" sz="1600" dirty="0"/>
              <a:t> </a:t>
            </a:r>
            <a:r>
              <a:rPr lang="vi-VN" sz="1600" dirty="0" err="1"/>
              <a:t>Reader</a:t>
            </a:r>
            <a:r>
              <a:rPr lang="vi-VN" sz="1600" dirty="0"/>
              <a:t> </a:t>
            </a:r>
            <a:r>
              <a:rPr lang="vi-VN" sz="1600" dirty="0" err="1"/>
              <a:t>App</a:t>
            </a:r>
            <a:r>
              <a:rPr lang="vi-VN" sz="1600" dirty="0"/>
              <a:t>) là một nền tảng cho phép người dùng xem, tìm kiếm và đọc truyện tranh trực tuyến trên điện thoại </a:t>
            </a:r>
            <a:r>
              <a:rPr lang="en-US" sz="1600" dirty="0"/>
              <a:t>.</a:t>
            </a:r>
            <a:r>
              <a:rPr lang="vi-VN" sz="1600" dirty="0"/>
              <a:t>Mục tiêu của đề tài là xây dựng một ứng dụng tiện lợi, thân thiện, dễ sử dụng giúp người dùng tiếp cận kho truyện phong phú, đồng thời hỗ trợ người quản trị (</a:t>
            </a:r>
            <a:r>
              <a:rPr lang="vi-VN" sz="1600" dirty="0" err="1"/>
              <a:t>admin</a:t>
            </a:r>
            <a:r>
              <a:rPr lang="vi-VN" sz="1600" dirty="0"/>
              <a:t>) dễ dàng cập nhật và quản lý nội dung.</a:t>
            </a:r>
          </a:p>
          <a:p>
            <a:pPr marL="177800" indent="0">
              <a:lnSpc>
                <a:spcPct val="150000"/>
              </a:lnSpc>
              <a:buNone/>
            </a:pP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b="1" u="sng" dirty="0" err="1">
                <a:latin typeface="Times New Roman" panose="02020603050405020304" pitchFamily="18" charset="0"/>
                <a:ea typeface="Tahoma" panose="020B0604030504040204" pitchFamily="34" charset="0"/>
                <a:cs typeface="Times New Roman" panose="02020603050405020304" pitchFamily="18" charset="0"/>
              </a:rPr>
              <a:t>Đối</a:t>
            </a:r>
            <a:r>
              <a:rPr lang="en-US" sz="1600" b="1" u="sng" dirty="0">
                <a:latin typeface="Times New Roman" panose="02020603050405020304" pitchFamily="18" charset="0"/>
                <a:ea typeface="Tahoma" panose="020B0604030504040204" pitchFamily="34" charset="0"/>
                <a:cs typeface="Times New Roman" panose="02020603050405020304" pitchFamily="18" charset="0"/>
              </a:rPr>
              <a:t> </a:t>
            </a:r>
            <a:r>
              <a:rPr lang="en-US" sz="1600" b="1" u="sng" dirty="0" err="1">
                <a:latin typeface="Times New Roman" panose="02020603050405020304" pitchFamily="18" charset="0"/>
                <a:ea typeface="Tahoma" panose="020B0604030504040204" pitchFamily="34" charset="0"/>
                <a:cs typeface="Times New Roman" panose="02020603050405020304" pitchFamily="18" charset="0"/>
              </a:rPr>
              <a:t>với</a:t>
            </a:r>
            <a:r>
              <a:rPr lang="en-US" sz="1600" b="1" u="sng" dirty="0">
                <a:latin typeface="Times New Roman" panose="02020603050405020304" pitchFamily="18" charset="0"/>
                <a:ea typeface="Tahoma" panose="020B0604030504040204" pitchFamily="34" charset="0"/>
                <a:cs typeface="Times New Roman" panose="02020603050405020304" pitchFamily="18" charset="0"/>
              </a:rPr>
              <a:t> </a:t>
            </a:r>
            <a:r>
              <a:rPr lang="en-US" sz="1600" b="1" u="sng" dirty="0" err="1">
                <a:latin typeface="Times New Roman" panose="02020603050405020304" pitchFamily="18" charset="0"/>
                <a:ea typeface="Tahoma" panose="020B0604030504040204" pitchFamily="34" charset="0"/>
                <a:cs typeface="Times New Roman" panose="02020603050405020304" pitchFamily="18" charset="0"/>
              </a:rPr>
              <a:t>quản</a:t>
            </a:r>
            <a:r>
              <a:rPr lang="en-US" sz="1600" b="1" u="sng" dirty="0">
                <a:latin typeface="Times New Roman" panose="02020603050405020304" pitchFamily="18" charset="0"/>
                <a:ea typeface="Tahoma" panose="020B0604030504040204" pitchFamily="34" charset="0"/>
                <a:cs typeface="Times New Roman" panose="02020603050405020304" pitchFamily="18" charset="0"/>
              </a:rPr>
              <a:t> </a:t>
            </a:r>
            <a:r>
              <a:rPr lang="en-US" sz="1600" b="1" u="sng" dirty="0" err="1">
                <a:latin typeface="Times New Roman" panose="02020603050405020304" pitchFamily="18" charset="0"/>
                <a:ea typeface="Tahoma" panose="020B0604030504040204" pitchFamily="34" charset="0"/>
                <a:cs typeface="Times New Roman" panose="02020603050405020304" pitchFamily="18" charset="0"/>
              </a:rPr>
              <a:t>trị</a:t>
            </a:r>
            <a:r>
              <a:rPr lang="en-US" sz="1600" b="1" u="sng" dirty="0">
                <a:latin typeface="Times New Roman" panose="02020603050405020304" pitchFamily="18" charset="0"/>
                <a:ea typeface="Tahoma" panose="020B0604030504040204" pitchFamily="34" charset="0"/>
                <a:cs typeface="Times New Roman" panose="02020603050405020304" pitchFamily="18" charset="0"/>
              </a:rPr>
              <a:t> </a:t>
            </a:r>
            <a:r>
              <a:rPr lang="en-US" sz="1600" b="1" u="sng" dirty="0" err="1">
                <a:latin typeface="Times New Roman" panose="02020603050405020304" pitchFamily="18" charset="0"/>
                <a:ea typeface="Tahoma" panose="020B0604030504040204" pitchFamily="34" charset="0"/>
                <a:cs typeface="Times New Roman" panose="02020603050405020304" pitchFamily="18" charset="0"/>
              </a:rPr>
              <a:t>viên</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br>
              <a:rPr lang="en-US" sz="1600" dirty="0">
                <a:latin typeface="Times New Roman" panose="02020603050405020304" pitchFamily="18" charset="0"/>
                <a:ea typeface="Tahoma" panose="020B0604030504040204" pitchFamily="34" charset="0"/>
                <a:cs typeface="Times New Roman" panose="02020603050405020304" pitchFamily="18" charset="0"/>
              </a:rPr>
            </a:br>
            <a:r>
              <a:rPr lang="en-US" sz="1600" dirty="0">
                <a:latin typeface="Times New Roman" panose="02020603050405020304" pitchFamily="18" charset="0"/>
                <a:ea typeface="Tahoma" panose="020B0604030504040204" pitchFamily="34" charset="0"/>
                <a:cs typeface="Times New Roman" panose="02020603050405020304" pitchFamily="18" charset="0"/>
              </a:rPr>
              <a:t> Quản </a:t>
            </a:r>
            <a:r>
              <a:rPr lang="en-US" sz="1600" dirty="0" err="1">
                <a:latin typeface="Times New Roman" panose="02020603050405020304" pitchFamily="18" charset="0"/>
                <a:ea typeface="Tahoma" panose="020B0604030504040204" pitchFamily="34" charset="0"/>
                <a:cs typeface="Times New Roman" panose="02020603050405020304" pitchFamily="18" charset="0"/>
              </a:rPr>
              <a:t>trị</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hệ</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thống</a:t>
            </a:r>
            <a:r>
              <a:rPr lang="en-US" sz="1600" dirty="0">
                <a:latin typeface="Times New Roman" panose="02020603050405020304" pitchFamily="18" charset="0"/>
                <a:ea typeface="Tahoma" panose="020B0604030504040204" pitchFamily="34" charset="0"/>
                <a:cs typeface="Times New Roman" panose="02020603050405020304" pitchFamily="18" charset="0"/>
              </a:rPr>
              <a:t> : Quản </a:t>
            </a:r>
            <a:r>
              <a:rPr lang="en-US" sz="1600" dirty="0" err="1">
                <a:latin typeface="Times New Roman" panose="02020603050405020304" pitchFamily="18" charset="0"/>
                <a:ea typeface="Tahoma" panose="020B0604030504040204" pitchFamily="34" charset="0"/>
                <a:cs typeface="Times New Roman" panose="02020603050405020304" pitchFamily="18" charset="0"/>
              </a:rPr>
              <a:t>lý</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về</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thông</a:t>
            </a:r>
            <a:r>
              <a:rPr lang="en-US" sz="1600" dirty="0">
                <a:latin typeface="Times New Roman" panose="02020603050405020304" pitchFamily="18" charset="0"/>
                <a:ea typeface="Tahoma" panose="020B0604030504040204" pitchFamily="34" charset="0"/>
                <a:cs typeface="Times New Roman" panose="02020603050405020304" pitchFamily="18" charset="0"/>
              </a:rPr>
              <a:t> tin </a:t>
            </a:r>
            <a:r>
              <a:rPr lang="en-US" sz="1600" dirty="0" err="1">
                <a:latin typeface="Times New Roman" panose="02020603050405020304" pitchFamily="18" charset="0"/>
                <a:ea typeface="Tahoma" panose="020B0604030504040204" pitchFamily="34" charset="0"/>
                <a:cs typeface="Times New Roman" panose="02020603050405020304" pitchFamily="18" charset="0"/>
              </a:rPr>
              <a:t>về</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tác</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giả</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nhân</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vật</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thể</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loại</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các</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bộ</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truyện</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các</a:t>
            </a:r>
            <a:r>
              <a:rPr lang="en-US" sz="1600" dirty="0">
                <a:latin typeface="Times New Roman" panose="02020603050405020304" pitchFamily="18" charset="0"/>
                <a:ea typeface="Tahoma" panose="020B0604030504040204" pitchFamily="34" charset="0"/>
                <a:cs typeface="Times New Roman" panose="02020603050405020304" pitchFamily="18" charset="0"/>
              </a:rPr>
              <a:t> comment</a:t>
            </a:r>
            <a:br>
              <a:rPr lang="en-US" sz="1600" dirty="0">
                <a:latin typeface="Times New Roman" panose="02020603050405020304" pitchFamily="18" charset="0"/>
                <a:ea typeface="Tahoma" panose="020B0604030504040204" pitchFamily="34" charset="0"/>
                <a:cs typeface="Times New Roman" panose="02020603050405020304" pitchFamily="18" charset="0"/>
              </a:rPr>
            </a:br>
            <a:endParaRPr lang="en-US" sz="16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buFontTx/>
              <a:buChar char="-"/>
            </a:pPr>
            <a:r>
              <a:rPr lang="en-US" sz="1600" b="1" u="sng" dirty="0" err="1"/>
              <a:t>Đối</a:t>
            </a:r>
            <a:r>
              <a:rPr lang="en-US" sz="1600" b="1" u="sng" dirty="0"/>
              <a:t> </a:t>
            </a:r>
            <a:r>
              <a:rPr lang="en-US" sz="1600" b="1" u="sng" dirty="0" err="1"/>
              <a:t>với</a:t>
            </a:r>
            <a:r>
              <a:rPr lang="en-US" sz="1600" b="1" u="sng" dirty="0"/>
              <a:t> </a:t>
            </a:r>
            <a:r>
              <a:rPr lang="en-US" sz="1600" b="1" u="sng" dirty="0" err="1"/>
              <a:t>người</a:t>
            </a:r>
            <a:r>
              <a:rPr lang="en-US" sz="1600" b="1" u="sng" dirty="0"/>
              <a:t> </a:t>
            </a:r>
            <a:r>
              <a:rPr lang="en-US" sz="1600" b="1" u="sng" dirty="0" err="1"/>
              <a:t>dùng</a:t>
            </a:r>
            <a:r>
              <a:rPr lang="en-US" sz="1600" b="1" u="sng" dirty="0"/>
              <a:t>:</a:t>
            </a:r>
            <a:br>
              <a:rPr lang="en-US" sz="1600" b="1" u="sng" dirty="0"/>
            </a:br>
            <a:r>
              <a:rPr lang="en-US" sz="1600" dirty="0"/>
              <a:t>+ </a:t>
            </a:r>
            <a:r>
              <a:rPr lang="en-US" sz="1600" dirty="0" err="1"/>
              <a:t>Dễ</a:t>
            </a:r>
            <a:r>
              <a:rPr lang="en-US" sz="1600" dirty="0"/>
              <a:t> </a:t>
            </a:r>
            <a:r>
              <a:rPr lang="en-US" sz="1600" dirty="0" err="1"/>
              <a:t>dàng</a:t>
            </a:r>
            <a:r>
              <a:rPr lang="en-US" sz="1600" dirty="0"/>
              <a:t> </a:t>
            </a:r>
            <a:r>
              <a:rPr lang="en-US" sz="1600" dirty="0" err="1"/>
              <a:t>tìm</a:t>
            </a:r>
            <a:r>
              <a:rPr lang="en-US" sz="1600" dirty="0"/>
              <a:t> </a:t>
            </a:r>
            <a:r>
              <a:rPr lang="en-US" sz="1600" dirty="0" err="1"/>
              <a:t>kiếm</a:t>
            </a:r>
            <a:r>
              <a:rPr lang="en-US" sz="1600" dirty="0"/>
              <a:t> </a:t>
            </a:r>
            <a:r>
              <a:rPr lang="en-US" sz="1600" dirty="0" err="1"/>
              <a:t>các</a:t>
            </a:r>
            <a:r>
              <a:rPr lang="en-US" sz="1600" dirty="0"/>
              <a:t> </a:t>
            </a:r>
            <a:r>
              <a:rPr lang="en-US" sz="1600" dirty="0" err="1"/>
              <a:t>truyển</a:t>
            </a:r>
            <a:br>
              <a:rPr lang="en-US" sz="1600" dirty="0"/>
            </a:br>
            <a:r>
              <a:rPr lang="en-US" sz="1600" dirty="0"/>
              <a:t>+ Cung </a:t>
            </a:r>
            <a:r>
              <a:rPr lang="en-US" sz="1600" dirty="0" err="1"/>
              <a:t>cấp</a:t>
            </a:r>
            <a:r>
              <a:rPr lang="en-US" sz="1600" dirty="0"/>
              <a:t> </a:t>
            </a:r>
            <a:r>
              <a:rPr lang="en-US" sz="1600" dirty="0" err="1"/>
              <a:t>các</a:t>
            </a:r>
            <a:r>
              <a:rPr lang="en-US" sz="1600" dirty="0"/>
              <a:t> </a:t>
            </a:r>
            <a:r>
              <a:rPr lang="en-US" sz="1600" dirty="0" err="1"/>
              <a:t>chức</a:t>
            </a:r>
            <a:r>
              <a:rPr lang="en-US" sz="1600" dirty="0"/>
              <a:t> </a:t>
            </a:r>
            <a:r>
              <a:rPr lang="en-US" sz="1600" dirty="0" err="1"/>
              <a:t>năng</a:t>
            </a:r>
            <a:r>
              <a:rPr lang="en-US" sz="1600" dirty="0"/>
              <a:t> </a:t>
            </a:r>
            <a:r>
              <a:rPr lang="en-US" sz="1600" dirty="0" err="1"/>
              <a:t>lưu</a:t>
            </a:r>
            <a:r>
              <a:rPr lang="en-US" sz="1600" dirty="0"/>
              <a:t> </a:t>
            </a:r>
            <a:r>
              <a:rPr lang="en-US" sz="1600" dirty="0" err="1"/>
              <a:t>trữ</a:t>
            </a:r>
            <a:r>
              <a:rPr lang="en-US" sz="1600" dirty="0"/>
              <a:t> </a:t>
            </a:r>
            <a:r>
              <a:rPr lang="en-US" sz="1600" dirty="0" err="1"/>
              <a:t>và</a:t>
            </a:r>
            <a:r>
              <a:rPr lang="en-US" sz="1600" dirty="0"/>
              <a:t> </a:t>
            </a:r>
            <a:r>
              <a:rPr lang="en-US" sz="1600" dirty="0" err="1"/>
              <a:t>xem</a:t>
            </a:r>
            <a:r>
              <a:rPr lang="en-US" sz="1600" dirty="0"/>
              <a:t> </a:t>
            </a:r>
            <a:r>
              <a:rPr lang="en-US" sz="1600" dirty="0" err="1"/>
              <a:t>lịch</a:t>
            </a:r>
            <a:r>
              <a:rPr lang="en-US" sz="1600" dirty="0"/>
              <a:t> </a:t>
            </a:r>
            <a:r>
              <a:rPr lang="en-US" sz="1600" dirty="0" err="1"/>
              <a:t>sử</a:t>
            </a:r>
            <a:r>
              <a:rPr lang="en-US" sz="1600" dirty="0"/>
              <a:t> </a:t>
            </a:r>
            <a:r>
              <a:rPr lang="en-US" sz="1600" dirty="0" err="1"/>
              <a:t>các</a:t>
            </a:r>
            <a:r>
              <a:rPr lang="en-US" sz="1600" dirty="0"/>
              <a:t> </a:t>
            </a:r>
            <a:r>
              <a:rPr lang="en-US" sz="1600" dirty="0" err="1"/>
              <a:t>truyện</a:t>
            </a:r>
            <a:r>
              <a:rPr lang="en-US" sz="1600" dirty="0"/>
              <a:t> </a:t>
            </a:r>
            <a:r>
              <a:rPr lang="en-US" sz="1600" dirty="0" err="1"/>
              <a:t>đã</a:t>
            </a:r>
            <a:r>
              <a:rPr lang="en-US" sz="1600" dirty="0"/>
              <a:t> </a:t>
            </a:r>
            <a:r>
              <a:rPr lang="en-US" sz="1600" dirty="0" err="1"/>
              <a:t>đọc</a:t>
            </a:r>
            <a:br>
              <a:rPr lang="en-US" sz="1600" dirty="0"/>
            </a:br>
            <a:r>
              <a:rPr lang="en-US" sz="1600" dirty="0"/>
              <a:t>+ </a:t>
            </a:r>
            <a:r>
              <a:rPr lang="en-US" sz="1600" dirty="0" err="1"/>
              <a:t>Thêm</a:t>
            </a:r>
            <a:r>
              <a:rPr lang="en-US" sz="1600" dirty="0"/>
              <a:t> </a:t>
            </a:r>
            <a:r>
              <a:rPr lang="en-US" sz="1600" dirty="0" err="1"/>
              <a:t>truyện</a:t>
            </a:r>
            <a:r>
              <a:rPr lang="en-US" sz="1600" dirty="0"/>
              <a:t> </a:t>
            </a:r>
            <a:r>
              <a:rPr lang="en-US" sz="1600" dirty="0" err="1"/>
              <a:t>vào</a:t>
            </a:r>
            <a:r>
              <a:rPr lang="en-US" sz="1600" dirty="0"/>
              <a:t> </a:t>
            </a:r>
            <a:r>
              <a:rPr lang="en-US" sz="1600" dirty="0" err="1"/>
              <a:t>mục</a:t>
            </a:r>
            <a:r>
              <a:rPr lang="en-US" sz="1600" dirty="0"/>
              <a:t> </a:t>
            </a:r>
            <a:r>
              <a:rPr lang="en-US" sz="1600" dirty="0" err="1"/>
              <a:t>yêu</a:t>
            </a:r>
            <a:r>
              <a:rPr lang="en-US" sz="1600" dirty="0"/>
              <a:t> </a:t>
            </a:r>
            <a:r>
              <a:rPr lang="en-US" sz="1600" dirty="0" err="1"/>
              <a:t>thích</a:t>
            </a:r>
            <a:br>
              <a:rPr lang="en-US" sz="1600" dirty="0"/>
            </a:br>
            <a:r>
              <a:rPr lang="en-US" sz="1600" dirty="0"/>
              <a:t>+ Quản </a:t>
            </a:r>
            <a:r>
              <a:rPr lang="en-US" sz="1600" dirty="0" err="1"/>
              <a:t>lý</a:t>
            </a:r>
            <a:r>
              <a:rPr lang="en-US" sz="1600" dirty="0"/>
              <a:t> </a:t>
            </a:r>
            <a:r>
              <a:rPr lang="en-US" sz="1600" dirty="0" err="1"/>
              <a:t>thông</a:t>
            </a:r>
            <a:r>
              <a:rPr lang="en-US" sz="1600" dirty="0"/>
              <a:t> tin </a:t>
            </a:r>
            <a:r>
              <a:rPr lang="en-US" sz="1600" dirty="0" err="1"/>
              <a:t>đăng</a:t>
            </a:r>
            <a:r>
              <a:rPr lang="en-US" sz="1600" dirty="0"/>
              <a:t> </a:t>
            </a:r>
            <a:r>
              <a:rPr lang="en-US" sz="1600" dirty="0" err="1"/>
              <a:t>nhập</a:t>
            </a:r>
            <a:r>
              <a:rPr lang="en-US" sz="1600" dirty="0"/>
              <a:t> </a:t>
            </a:r>
            <a:r>
              <a:rPr lang="en-US" sz="1600" dirty="0" err="1"/>
              <a:t>của</a:t>
            </a:r>
            <a:r>
              <a:rPr lang="en-US" sz="1600" dirty="0"/>
              <a:t> </a:t>
            </a:r>
            <a:r>
              <a:rPr lang="en-US" sz="1600" dirty="0" err="1"/>
              <a:t>người</a:t>
            </a:r>
            <a:r>
              <a:rPr lang="en-US" sz="1600" dirty="0"/>
              <a:t> </a:t>
            </a:r>
            <a:r>
              <a:rPr lang="en-US" sz="1600" dirty="0" err="1"/>
              <a:t>dùng</a:t>
            </a:r>
            <a:br>
              <a:rPr lang="en-US" sz="1600" dirty="0"/>
            </a:br>
            <a:r>
              <a:rPr lang="en-US" sz="1600" dirty="0" err="1">
                <a:latin typeface="Times New Roman" panose="02020603050405020304" pitchFamily="18" charset="0"/>
                <a:ea typeface="Tahoma" panose="020B0604030504040204" pitchFamily="34" charset="0"/>
                <a:cs typeface="Times New Roman" panose="02020603050405020304" pitchFamily="18" charset="0"/>
              </a:rPr>
              <a:t>Để</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có</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thể</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triển</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khai</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được</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dự</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án</a:t>
            </a:r>
            <a:r>
              <a:rPr lang="en-US" sz="1600" dirty="0">
                <a:latin typeface="Times New Roman" panose="02020603050405020304" pitchFamily="18" charset="0"/>
                <a:ea typeface="Tahoma" panose="020B0604030504040204" pitchFamily="34" charset="0"/>
                <a:cs typeface="Times New Roman" panose="02020603050405020304" pitchFamily="18" charset="0"/>
              </a:rPr>
              <a:t> website </a:t>
            </a:r>
            <a:r>
              <a:rPr lang="en-US" sz="1600" dirty="0" err="1">
                <a:latin typeface="Times New Roman" panose="02020603050405020304" pitchFamily="18" charset="0"/>
                <a:ea typeface="Tahoma" panose="020B0604030504040204" pitchFamily="34" charset="0"/>
                <a:cs typeface="Times New Roman" panose="02020603050405020304" pitchFamily="18" charset="0"/>
              </a:rPr>
              <a:t>bán</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hàng</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thời</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trang</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này</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chúng</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tôi</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sử</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dụng</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những</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công</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nghệ</a:t>
            </a:r>
            <a:r>
              <a:rPr lang="en-US" sz="1600" dirty="0">
                <a:latin typeface="Times New Roman" panose="02020603050405020304" pitchFamily="18" charset="0"/>
                <a:ea typeface="Tahoma" panose="020B0604030504040204" pitchFamily="34" charset="0"/>
                <a:cs typeface="Times New Roman" panose="02020603050405020304" pitchFamily="18" charset="0"/>
              </a:rPr>
              <a:t> </a:t>
            </a:r>
            <a:r>
              <a:rPr lang="en-US" sz="1600" dirty="0" err="1">
                <a:latin typeface="Times New Roman" panose="02020603050405020304" pitchFamily="18" charset="0"/>
                <a:ea typeface="Tahoma" panose="020B0604030504040204" pitchFamily="34" charset="0"/>
                <a:cs typeface="Times New Roman" panose="02020603050405020304" pitchFamily="18" charset="0"/>
              </a:rPr>
              <a:t>sau</a:t>
            </a:r>
            <a:r>
              <a:rPr lang="en-US" sz="1600" dirty="0">
                <a:latin typeface="Times New Roman" panose="02020603050405020304" pitchFamily="18" charset="0"/>
                <a:ea typeface="Tahoma" panose="020B0604030504040204" pitchFamily="34" charset="0"/>
                <a:cs typeface="Times New Roman" panose="02020603050405020304" pitchFamily="18" charset="0"/>
              </a:rPr>
              <a:t>:</a:t>
            </a:r>
          </a:p>
        </p:txBody>
      </p:sp>
    </p:spTree>
    <p:extLst>
      <p:ext uri="{BB962C8B-B14F-4D97-AF65-F5344CB8AC3E}">
        <p14:creationId xmlns:p14="http://schemas.microsoft.com/office/powerpoint/2010/main" val="3495627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0"/>
            <a:ext cx="10515599" cy="1020762"/>
          </a:xfrm>
        </p:spPr>
        <p:txBody>
          <a:bodyPr/>
          <a:lstStyle/>
          <a:p>
            <a:pPr lvl="0"/>
            <a:r>
              <a:rPr lang="en-US" sz="3000" b="1" dirty="0">
                <a:solidFill>
                  <a:srgbClr val="832C8B"/>
                </a:solidFill>
              </a:rPr>
              <a:t>CÁC CÔNG NGHỆ SỬ DỤNG TRONG ĐỀ TÀI</a:t>
            </a:r>
            <a:endParaRPr lang="en-US" sz="3000" dirty="0"/>
          </a:p>
        </p:txBody>
      </p:sp>
      <p:sp>
        <p:nvSpPr>
          <p:cNvPr id="3" name="Text Placeholder 2"/>
          <p:cNvSpPr>
            <a:spLocks noGrp="1"/>
          </p:cNvSpPr>
          <p:nvPr>
            <p:ph type="body" idx="1"/>
          </p:nvPr>
        </p:nvSpPr>
        <p:spPr>
          <a:xfrm>
            <a:off x="76200" y="838200"/>
            <a:ext cx="11887200" cy="5486400"/>
          </a:xfrm>
        </p:spPr>
        <p:txBody>
          <a:bodyPr/>
          <a:lstStyle/>
          <a:p>
            <a:pPr>
              <a:lnSpc>
                <a:spcPct val="150000"/>
              </a:lnSpc>
              <a:buFont typeface="Wingdings" panose="05000000000000000000" pitchFamily="2" charset="2"/>
              <a:buChar char="ü"/>
            </a:pPr>
            <a:r>
              <a:rPr lang="en-US" sz="3200" dirty="0">
                <a:ea typeface="Tahoma" panose="020B0604030504040204" pitchFamily="34" charset="0"/>
                <a:cs typeface="Tahoma" panose="020B0604030504040204" pitchFamily="34" charset="0"/>
              </a:rPr>
              <a:t> </a:t>
            </a:r>
            <a:r>
              <a:rPr lang="en-US" sz="3200" dirty="0">
                <a:latin typeface="Times New Roman" panose="02020603050405020304" pitchFamily="18" charset="0"/>
                <a:ea typeface="Tahoma" panose="020B0604030504040204" pitchFamily="34" charset="0"/>
                <a:cs typeface="Times New Roman" panose="02020603050405020304" pitchFamily="18" charset="0"/>
              </a:rPr>
              <a:t>HTML, CSS, Bootstrap, </a:t>
            </a:r>
            <a:r>
              <a:rPr lang="en-US" sz="3200" dirty="0" err="1">
                <a:latin typeface="Times New Roman" panose="02020603050405020304" pitchFamily="18" charset="0"/>
                <a:ea typeface="Tahoma" panose="020B0604030504040204" pitchFamily="34" charset="0"/>
                <a:cs typeface="Times New Roman" panose="02020603050405020304" pitchFamily="18" charset="0"/>
              </a:rPr>
              <a:t>Javascript</a:t>
            </a:r>
            <a:endParaRPr lang="en-US" sz="32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buFont typeface="Wingdings" panose="05000000000000000000" pitchFamily="2" charset="2"/>
              <a:buChar char="ü"/>
            </a:pPr>
            <a:r>
              <a:rPr lang="en-US" sz="3200" dirty="0">
                <a:latin typeface="Times New Roman" panose="02020603050405020304" pitchFamily="18" charset="0"/>
                <a:ea typeface="Tahoma" panose="020B0604030504040204" pitchFamily="34" charset="0"/>
                <a:cs typeface="Times New Roman" panose="02020603050405020304" pitchFamily="18" charset="0"/>
              </a:rPr>
              <a:t>FRAMEWORK BACK-END: </a:t>
            </a:r>
            <a:r>
              <a:rPr lang="en-US" sz="2400" dirty="0">
                <a:solidFill>
                  <a:srgbClr val="081B3A"/>
                </a:solidFill>
                <a:latin typeface="SegoeuiPc"/>
              </a:rPr>
              <a:t>NET MVC</a:t>
            </a:r>
          </a:p>
          <a:p>
            <a:pPr>
              <a:lnSpc>
                <a:spcPct val="150000"/>
              </a:lnSpc>
              <a:buFont typeface="Wingdings" panose="05000000000000000000" pitchFamily="2" charset="2"/>
              <a:buChar char="ü"/>
            </a:pPr>
            <a:r>
              <a:rPr lang="en-US" dirty="0">
                <a:solidFill>
                  <a:srgbClr val="081B3A"/>
                </a:solidFill>
                <a:latin typeface="SegoeuiPc"/>
                <a:ea typeface="Tahoma" panose="020B0604030504040204" pitchFamily="34" charset="0"/>
                <a:cs typeface="Times New Roman" panose="02020603050405020304" pitchFamily="18" charset="0"/>
              </a:rPr>
              <a:t>FRAMEWORK FRONT-END: REACT JS (Trang </a:t>
            </a:r>
            <a:r>
              <a:rPr lang="en-US" dirty="0" err="1">
                <a:solidFill>
                  <a:srgbClr val="081B3A"/>
                </a:solidFill>
                <a:latin typeface="SegoeuiPc"/>
                <a:ea typeface="Tahoma" panose="020B0604030504040204" pitchFamily="34" charset="0"/>
                <a:cs typeface="Times New Roman" panose="02020603050405020304" pitchFamily="18" charset="0"/>
              </a:rPr>
              <a:t>quản</a:t>
            </a:r>
            <a:r>
              <a:rPr lang="en-US" dirty="0">
                <a:solidFill>
                  <a:srgbClr val="081B3A"/>
                </a:solidFill>
                <a:latin typeface="SegoeuiPc"/>
                <a:ea typeface="Tahoma" panose="020B0604030504040204" pitchFamily="34" charset="0"/>
                <a:cs typeface="Times New Roman" panose="02020603050405020304" pitchFamily="18" charset="0"/>
              </a:rPr>
              <a:t> </a:t>
            </a:r>
            <a:r>
              <a:rPr lang="en-US" dirty="0" err="1">
                <a:solidFill>
                  <a:srgbClr val="081B3A"/>
                </a:solidFill>
                <a:latin typeface="SegoeuiPc"/>
                <a:ea typeface="Tahoma" panose="020B0604030504040204" pitchFamily="34" charset="0"/>
                <a:cs typeface="Times New Roman" panose="02020603050405020304" pitchFamily="18" charset="0"/>
              </a:rPr>
              <a:t>trị</a:t>
            </a:r>
            <a:r>
              <a:rPr lang="en-US" dirty="0">
                <a:solidFill>
                  <a:srgbClr val="081B3A"/>
                </a:solidFill>
                <a:latin typeface="SegoeuiPc"/>
                <a:ea typeface="Tahoma" panose="020B0604030504040204" pitchFamily="34" charset="0"/>
                <a:cs typeface="Times New Roman" panose="02020603050405020304" pitchFamily="18" charset="0"/>
              </a:rPr>
              <a:t>), Flutter(Trang </a:t>
            </a:r>
            <a:r>
              <a:rPr lang="en-US" dirty="0" err="1">
                <a:solidFill>
                  <a:srgbClr val="081B3A"/>
                </a:solidFill>
                <a:latin typeface="SegoeuiPc"/>
                <a:ea typeface="Tahoma" panose="020B0604030504040204" pitchFamily="34" charset="0"/>
                <a:cs typeface="Times New Roman" panose="02020603050405020304" pitchFamily="18" charset="0"/>
              </a:rPr>
              <a:t>người</a:t>
            </a:r>
            <a:r>
              <a:rPr lang="en-US" dirty="0">
                <a:solidFill>
                  <a:srgbClr val="081B3A"/>
                </a:solidFill>
                <a:latin typeface="SegoeuiPc"/>
                <a:ea typeface="Tahoma" panose="020B0604030504040204" pitchFamily="34" charset="0"/>
                <a:cs typeface="Times New Roman" panose="02020603050405020304" pitchFamily="18" charset="0"/>
              </a:rPr>
              <a:t> </a:t>
            </a:r>
            <a:r>
              <a:rPr lang="en-US" dirty="0" err="1">
                <a:solidFill>
                  <a:srgbClr val="081B3A"/>
                </a:solidFill>
                <a:latin typeface="SegoeuiPc"/>
                <a:ea typeface="Tahoma" panose="020B0604030504040204" pitchFamily="34" charset="0"/>
                <a:cs typeface="Times New Roman" panose="02020603050405020304" pitchFamily="18" charset="0"/>
              </a:rPr>
              <a:t>dùng</a:t>
            </a:r>
            <a:r>
              <a:rPr lang="en-US" dirty="0">
                <a:solidFill>
                  <a:srgbClr val="081B3A"/>
                </a:solidFill>
                <a:latin typeface="SegoeuiPc"/>
                <a:ea typeface="Tahoma" panose="020B0604030504040204" pitchFamily="34" charset="0"/>
                <a:cs typeface="Times New Roman" panose="02020603050405020304" pitchFamily="18" charset="0"/>
              </a:rPr>
              <a:t>)</a:t>
            </a:r>
            <a:endParaRPr lang="en-US"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buFont typeface="Wingdings" panose="05000000000000000000" pitchFamily="2" charset="2"/>
              <a:buChar char="ü"/>
            </a:pPr>
            <a:r>
              <a:rPr lang="en-US" sz="3200" dirty="0">
                <a:latin typeface="Times New Roman" panose="02020603050405020304" pitchFamily="18" charset="0"/>
                <a:ea typeface="Tahoma" panose="020B0604030504040204" pitchFamily="34" charset="0"/>
                <a:cs typeface="Times New Roman" panose="02020603050405020304" pitchFamily="18" charset="0"/>
              </a:rPr>
              <a:t>DATABASE: </a:t>
            </a:r>
            <a:r>
              <a:rPr lang="en-US" dirty="0">
                <a:solidFill>
                  <a:srgbClr val="081B3A"/>
                </a:solidFill>
                <a:latin typeface="SegoeuiPc"/>
              </a:rPr>
              <a:t>SQL SERVER</a:t>
            </a:r>
            <a:endParaRPr lang="en-US"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809509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0"/>
            <a:ext cx="10515599" cy="1020762"/>
          </a:xfrm>
        </p:spPr>
        <p:txBody>
          <a:bodyPr/>
          <a:lstStyle/>
          <a:p>
            <a:pPr lvl="0"/>
            <a:r>
              <a:rPr lang="en-US" sz="3000" b="1" dirty="0">
                <a:solidFill>
                  <a:srgbClr val="832C8B"/>
                </a:solidFill>
              </a:rPr>
              <a:t>PHÂN CÔNG </a:t>
            </a:r>
            <a:r>
              <a:rPr lang="en-US" sz="3000" b="1" dirty="0" err="1">
                <a:solidFill>
                  <a:srgbClr val="832C8B"/>
                </a:solidFill>
              </a:rPr>
              <a:t>CÔNG</a:t>
            </a:r>
            <a:r>
              <a:rPr lang="en-US" sz="3000" b="1" dirty="0">
                <a:solidFill>
                  <a:srgbClr val="832C8B"/>
                </a:solidFill>
              </a:rPr>
              <a:t> VIỆC</a:t>
            </a:r>
            <a:endParaRPr lang="en-US" sz="3000" dirty="0"/>
          </a:p>
        </p:txBody>
      </p:sp>
      <p:sp>
        <p:nvSpPr>
          <p:cNvPr id="3" name="Text Placeholder 2"/>
          <p:cNvSpPr>
            <a:spLocks noGrp="1"/>
          </p:cNvSpPr>
          <p:nvPr>
            <p:ph type="body" idx="1"/>
          </p:nvPr>
        </p:nvSpPr>
        <p:spPr>
          <a:xfrm>
            <a:off x="76200" y="838200"/>
            <a:ext cx="11887200" cy="5486400"/>
          </a:xfrm>
        </p:spPr>
        <p:txBody>
          <a:bodyPr/>
          <a:lstStyle/>
          <a:p>
            <a:pPr marL="177800" indent="0">
              <a:lnSpc>
                <a:spcPct val="150000"/>
              </a:lnSpc>
              <a:buNone/>
            </a:pPr>
            <a:endParaRPr lang="en-US" sz="26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95268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0"/>
            <a:ext cx="10515599" cy="1020762"/>
          </a:xfrm>
        </p:spPr>
        <p:txBody>
          <a:bodyPr/>
          <a:lstStyle/>
          <a:p>
            <a:pPr lvl="0"/>
            <a:r>
              <a:rPr lang="en-US" sz="3000" b="1" dirty="0">
                <a:solidFill>
                  <a:srgbClr val="832C8B"/>
                </a:solidFill>
              </a:rPr>
              <a:t>BIỂU ĐỒ LUỒNG DỮ LIỆU MỨC NGỮ CẢNH</a:t>
            </a:r>
            <a:endParaRPr lang="en-US" sz="3000" dirty="0"/>
          </a:p>
        </p:txBody>
      </p:sp>
      <p:pic>
        <p:nvPicPr>
          <p:cNvPr id="6" name="Picture 5">
            <a:extLst>
              <a:ext uri="{FF2B5EF4-FFF2-40B4-BE49-F238E27FC236}">
                <a16:creationId xmlns:a16="http://schemas.microsoft.com/office/drawing/2014/main" id="{5A72DAE1-6759-F9AD-7DEF-97C0FD451A5D}"/>
              </a:ext>
            </a:extLst>
          </p:cNvPr>
          <p:cNvPicPr>
            <a:picLocks noChangeAspect="1"/>
          </p:cNvPicPr>
          <p:nvPr/>
        </p:nvPicPr>
        <p:blipFill>
          <a:blip r:embed="rId2"/>
          <a:stretch>
            <a:fillRect/>
          </a:stretch>
        </p:blipFill>
        <p:spPr>
          <a:xfrm>
            <a:off x="152400" y="1419225"/>
            <a:ext cx="11434562" cy="4019550"/>
          </a:xfrm>
          <a:prstGeom prst="rect">
            <a:avLst/>
          </a:prstGeom>
        </p:spPr>
      </p:pic>
    </p:spTree>
    <p:extLst>
      <p:ext uri="{BB962C8B-B14F-4D97-AF65-F5344CB8AC3E}">
        <p14:creationId xmlns:p14="http://schemas.microsoft.com/office/powerpoint/2010/main" val="3870049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0"/>
            <a:ext cx="10515599" cy="1020762"/>
          </a:xfrm>
        </p:spPr>
        <p:txBody>
          <a:bodyPr/>
          <a:lstStyle/>
          <a:p>
            <a:pPr lvl="0"/>
            <a:r>
              <a:rPr lang="en-US" sz="3000" b="1" dirty="0">
                <a:solidFill>
                  <a:srgbClr val="832C8B"/>
                </a:solidFill>
              </a:rPr>
              <a:t>SƠ ĐỒ QUAN HỆ THỰC THỂ</a:t>
            </a:r>
            <a:endParaRPr lang="en-US" sz="3000" dirty="0"/>
          </a:p>
        </p:txBody>
      </p:sp>
      <p:pic>
        <p:nvPicPr>
          <p:cNvPr id="7" name="Picture 6">
            <a:extLst>
              <a:ext uri="{FF2B5EF4-FFF2-40B4-BE49-F238E27FC236}">
                <a16:creationId xmlns:a16="http://schemas.microsoft.com/office/drawing/2014/main" id="{01152FA9-A908-3CF4-2C33-D6CDB49DC3F7}"/>
              </a:ext>
            </a:extLst>
          </p:cNvPr>
          <p:cNvPicPr>
            <a:picLocks noChangeAspect="1"/>
          </p:cNvPicPr>
          <p:nvPr/>
        </p:nvPicPr>
        <p:blipFill>
          <a:blip r:embed="rId2"/>
          <a:stretch>
            <a:fillRect/>
          </a:stretch>
        </p:blipFill>
        <p:spPr>
          <a:xfrm>
            <a:off x="990600" y="844153"/>
            <a:ext cx="10373177" cy="5169694"/>
          </a:xfrm>
          <a:prstGeom prst="rect">
            <a:avLst/>
          </a:prstGeom>
        </p:spPr>
      </p:pic>
    </p:spTree>
    <p:extLst>
      <p:ext uri="{BB962C8B-B14F-4D97-AF65-F5344CB8AC3E}">
        <p14:creationId xmlns:p14="http://schemas.microsoft.com/office/powerpoint/2010/main" val="3134719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0"/>
            <a:ext cx="10515599" cy="1020762"/>
          </a:xfrm>
        </p:spPr>
        <p:txBody>
          <a:bodyPr/>
          <a:lstStyle/>
          <a:p>
            <a:pPr lvl="0"/>
            <a:r>
              <a:rPr lang="en-US" sz="3000" b="1" dirty="0">
                <a:solidFill>
                  <a:srgbClr val="832C8B"/>
                </a:solidFill>
              </a:rPr>
              <a:t>THIẾT KẾ CƠ SỞ DỮ LIỆU</a:t>
            </a:r>
            <a:endParaRPr lang="en-US" sz="3000" dirty="0"/>
          </a:p>
        </p:txBody>
      </p:sp>
      <p:pic>
        <p:nvPicPr>
          <p:cNvPr id="3" name="Picture 2">
            <a:extLst>
              <a:ext uri="{FF2B5EF4-FFF2-40B4-BE49-F238E27FC236}">
                <a16:creationId xmlns:a16="http://schemas.microsoft.com/office/drawing/2014/main" id="{6C56BE62-D3AF-5C23-8667-E4C3054EAEEB}"/>
              </a:ext>
            </a:extLst>
          </p:cNvPr>
          <p:cNvPicPr>
            <a:picLocks noChangeAspect="1"/>
          </p:cNvPicPr>
          <p:nvPr/>
        </p:nvPicPr>
        <p:blipFill>
          <a:blip r:embed="rId2"/>
          <a:stretch>
            <a:fillRect/>
          </a:stretch>
        </p:blipFill>
        <p:spPr>
          <a:xfrm>
            <a:off x="1257300" y="1046162"/>
            <a:ext cx="9677400" cy="5014119"/>
          </a:xfrm>
          <a:prstGeom prst="rect">
            <a:avLst/>
          </a:prstGeom>
        </p:spPr>
      </p:pic>
    </p:spTree>
    <p:extLst>
      <p:ext uri="{BB962C8B-B14F-4D97-AF65-F5344CB8AC3E}">
        <p14:creationId xmlns:p14="http://schemas.microsoft.com/office/powerpoint/2010/main" val="3928842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0"/>
            <a:ext cx="10515599" cy="1020762"/>
          </a:xfrm>
        </p:spPr>
        <p:txBody>
          <a:bodyPr/>
          <a:lstStyle/>
          <a:p>
            <a:pPr lvl="0"/>
            <a:r>
              <a:rPr lang="en-US" sz="3000" b="1" dirty="0">
                <a:solidFill>
                  <a:srgbClr val="832C8B"/>
                </a:solidFill>
              </a:rPr>
              <a:t>HẠN CHẾ CỦA ĐỀ TÀI</a:t>
            </a:r>
            <a:endParaRPr lang="en-US" sz="3000" dirty="0"/>
          </a:p>
        </p:txBody>
      </p:sp>
      <p:sp>
        <p:nvSpPr>
          <p:cNvPr id="3" name="Text Placeholder 2"/>
          <p:cNvSpPr>
            <a:spLocks noGrp="1"/>
          </p:cNvSpPr>
          <p:nvPr>
            <p:ph type="body" idx="1"/>
          </p:nvPr>
        </p:nvSpPr>
        <p:spPr>
          <a:xfrm>
            <a:off x="76200" y="838200"/>
            <a:ext cx="11887200" cy="5486400"/>
          </a:xfrm>
        </p:spPr>
        <p:txBody>
          <a:bodyPr/>
          <a:lstStyle/>
          <a:p>
            <a:pPr>
              <a:lnSpc>
                <a:spcPct val="150000"/>
              </a:lnSpc>
              <a:buFont typeface="Wingdings" panose="05000000000000000000" pitchFamily="2" charset="2"/>
              <a:buChar char="ü"/>
            </a:pPr>
            <a:r>
              <a:rPr lang="vi-VN" sz="2400" dirty="0"/>
              <a:t>eComic chưa hỗ trợ các tính năng nâng cao như đọc offline</a:t>
            </a:r>
            <a:endParaRPr lang="en-US" sz="2400" dirty="0"/>
          </a:p>
          <a:p>
            <a:pPr>
              <a:lnSpc>
                <a:spcPct val="150000"/>
              </a:lnSpc>
              <a:buFont typeface="Wingdings" panose="05000000000000000000" pitchFamily="2" charset="2"/>
              <a:buChar char="ü"/>
            </a:pPr>
            <a:r>
              <a:rPr lang="vi-VN" sz="2400" dirty="0"/>
              <a:t>Hệ thống chưa áp dụng các kỹ thuật như caching, CDN, hoặc microservices để tối ưu hóa hiệu suất trong môi trường sản xuất.</a:t>
            </a:r>
            <a:endParaRPr lang="en-US" sz="2400" dirty="0"/>
          </a:p>
          <a:p>
            <a:pPr>
              <a:lnSpc>
                <a:spcPct val="150000"/>
              </a:lnSpc>
              <a:buFont typeface="Wingdings" panose="05000000000000000000" pitchFamily="2" charset="2"/>
              <a:buChar char="ü"/>
            </a:pPr>
            <a:r>
              <a:rPr lang="vi-VN" sz="2400" dirty="0"/>
              <a:t>Dự án phụ thuộc vào việc cập nhật nội dung truyện tranh thường xuyên. Nếu không có đủ tài nguyên cho việc quản lý và cập nhật nội dung, thư viện truyện có thể không phong phú và không đáp ứng được nhu cầu người dùng.</a:t>
            </a:r>
            <a:endParaRPr lang="en-US" sz="2400" dirty="0"/>
          </a:p>
          <a:p>
            <a:pPr>
              <a:lnSpc>
                <a:spcPct val="150000"/>
              </a:lnSpc>
              <a:buFont typeface="Wingdings" panose="05000000000000000000" pitchFamily="2" charset="2"/>
              <a:buChar char="ü"/>
            </a:pPr>
            <a:r>
              <a:rPr lang="vi-VN" sz="2400" dirty="0"/>
              <a:t>Ứng dụng hiện chưa có tính năng hỗ trợ ngôn ngữ đa dạng</a:t>
            </a:r>
            <a:endParaRPr lang="en-US" sz="2600" dirty="0">
              <a:latin typeface="+mj-lt"/>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9338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999" r="-999"/>
          </a:stretch>
        </a:blipFill>
        <a:effectLst/>
      </p:bgPr>
    </p:bg>
    <p:spTree>
      <p:nvGrpSpPr>
        <p:cNvPr id="1" name="Shape 109"/>
        <p:cNvGrpSpPr/>
        <p:nvPr/>
      </p:nvGrpSpPr>
      <p:grpSpPr>
        <a:xfrm>
          <a:off x="0" y="0"/>
          <a:ext cx="0" cy="0"/>
          <a:chOff x="0" y="0"/>
          <a:chExt cx="0" cy="0"/>
        </a:xfrm>
      </p:grpSpPr>
      <p:sp>
        <p:nvSpPr>
          <p:cNvPr id="110" name="Shape 110"/>
          <p:cNvSpPr/>
          <p:nvPr/>
        </p:nvSpPr>
        <p:spPr>
          <a:xfrm>
            <a:off x="2819400" y="1828800"/>
            <a:ext cx="6629400" cy="707886"/>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4000" b="1" dirty="0">
                <a:solidFill>
                  <a:srgbClr val="3A3838"/>
                </a:solidFill>
                <a:latin typeface="Arial"/>
                <a:ea typeface="Arial"/>
                <a:cs typeface="Arial"/>
                <a:sym typeface="Arial"/>
              </a:rPr>
              <a:t>THANKS FOR WATCHING!</a:t>
            </a:r>
          </a:p>
        </p:txBody>
      </p:sp>
      <p:sp>
        <p:nvSpPr>
          <p:cNvPr id="2" name="Rectangle 1"/>
          <p:cNvSpPr/>
          <p:nvPr/>
        </p:nvSpPr>
        <p:spPr>
          <a:xfrm>
            <a:off x="4038600" y="2438400"/>
            <a:ext cx="3986989" cy="739754"/>
          </a:xfrm>
          <a:prstGeom prst="rect">
            <a:avLst/>
          </a:prstGeom>
        </p:spPr>
        <p:txBody>
          <a:bodyPr wrap="none">
            <a:spAutoFit/>
          </a:bodyPr>
          <a:lstStyle/>
          <a:p>
            <a:pPr marL="177800" algn="ctr">
              <a:lnSpc>
                <a:spcPct val="150000"/>
              </a:lnSpc>
            </a:pPr>
            <a:r>
              <a:rPr lang="en-US" sz="3200" b="1" dirty="0">
                <a:solidFill>
                  <a:srgbClr val="FF0000"/>
                </a:solidFill>
                <a:effectLst>
                  <a:outerShdw blurRad="38100" dist="38100" dir="2700000" algn="tl">
                    <a:srgbClr val="000000">
                      <a:alpha val="43137"/>
                    </a:srgbClr>
                  </a:outerShdw>
                </a:effectLst>
              </a:rPr>
              <a:t>DEMO ỨNG DỤNG</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1399</TotalTime>
  <Words>460</Words>
  <Application>Microsoft Office PowerPoint</Application>
  <PresentationFormat>Widescreen</PresentationFormat>
  <Paragraphs>36</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Times New Roman</vt:lpstr>
      <vt:lpstr>Tahoma</vt:lpstr>
      <vt:lpstr>SegoeuiPc</vt:lpstr>
      <vt:lpstr>Wingdings</vt:lpstr>
      <vt:lpstr>Arial</vt:lpstr>
      <vt:lpstr>Calibri</vt:lpstr>
      <vt:lpstr>Office Theme</vt:lpstr>
      <vt:lpstr>PowerPoint Presentation</vt:lpstr>
      <vt:lpstr>NỘI DUNG TRÌNH BÀY</vt:lpstr>
      <vt:lpstr>TỔNG QUAN ĐỀ TÀI</vt:lpstr>
      <vt:lpstr>CÁC CÔNG NGHỆ SỬ DỤNG TRONG ĐỀ TÀI</vt:lpstr>
      <vt:lpstr>PHÂN CÔNG CÔNG VIỆC</vt:lpstr>
      <vt:lpstr>BIỂU ĐỒ LUỒNG DỮ LIỆU MỨC NGỮ CẢNH</vt:lpstr>
      <vt:lpstr>SƠ ĐỒ QUAN HỆ THỰC THỂ</vt:lpstr>
      <vt:lpstr>THIẾT KẾ CƠ SỞ DỮ LIỆU</vt:lpstr>
      <vt:lpstr>HẠN CHẾ CỦA ĐỀ TÀI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Delll</cp:lastModifiedBy>
  <cp:revision>229</cp:revision>
  <dcterms:modified xsi:type="dcterms:W3CDTF">2025-10-18T01:53:50Z</dcterms:modified>
</cp:coreProperties>
</file>